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1" r:id="rId2"/>
    <p:sldId id="270" r:id="rId3"/>
    <p:sldId id="272" r:id="rId4"/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F34A7-CE96-EE22-C20D-8D259DA9407E}" v="55" dt="2026-05-12T04:59:01.035"/>
    <p1510:client id="{87D3E069-2A37-F793-AF17-CDBF8A7A7D4C}" v="282" dt="2026-05-12T01:23:02.732"/>
    <p1510:client id="{B60BDC7D-D07C-CB23-6FBC-939BA2EFD324}" v="397" dt="2026-05-12T07:17:21.856"/>
    <p1510:client id="{C12C1136-A502-536E-4211-D3780563BB21}" v="136" dt="2026-05-12T06:03:20.910"/>
    <p1510:client id="{D32304AF-25DE-A7CA-8214-3C155E279815}" v="64" dt="2026-05-12T06:17:01.991"/>
    <p1510:client id="{DA17D514-0E42-425B-B68D-7C5BFCDBF9DE}" v="863" dt="2026-05-12T01:49:53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97779-7854-413F-9961-0F5A7F8A729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845B-F44B-4774-8B75-E7E164C8F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5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8845B-F44B-4774-8B75-E7E164C8F47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69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3C9C-DF4D-49DC-6A33-1F046A4F4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53148-8618-E6A8-0D9E-36E921FFE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C5F4E-E60A-60F7-241C-A6D7BD7B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E7D6E-EC35-DA8F-A07A-33744B64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5BA0-42A4-738A-2045-CB3553A8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0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23CB-1585-9B36-4FC8-E6C8F40E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0C4D-BF6C-A271-4AC7-20A4AFA8B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ADC59-52F4-9901-4BDD-295FFBEE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3B7B-8F3D-6D9A-83C5-1C56FAD0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56B46-452A-F36E-BF33-F318590C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0C19-A96B-6751-D0F8-0305459B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53CB9-6BDC-7740-E470-212DDA0A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32D07-4D96-A6A8-6AF2-F280AEE2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E236-6E33-B1AF-465B-540F3153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8BF5-457D-68A5-CCCA-3C8A65BA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10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0984-CDE8-EF7D-AB61-47D63F7C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97735-A3C8-BA98-A373-E80314DDD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2FA48-14A8-5DB3-6020-9149D9456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0A389-A249-CE32-FDA7-0D4D31D3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122AD-AEBB-702C-AA9F-11598301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37DEF-9EBA-574C-7A06-684834F4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DB9D-B930-E73B-76B2-464F4722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00B71-8FA2-75F1-8E12-998309D34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41AE2-3C9F-CD9E-23E5-F7F1B4C43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59DA3-B4C4-21B5-DD63-D9B9FD155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BA96E-6B81-D48B-D4F3-437C8E74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D89B5-F471-08A8-7DE1-E8D87E09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C927C-99D2-46B0-CA7E-3DDB00DE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77F19-D9BC-24A8-A734-D235EA2B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35A4-1EE6-9128-2410-462CBF98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C19E3-2CC1-4342-408A-21F89A42A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841AB-9554-311B-BB23-641ABD71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1AD97-55C9-5F7F-7BF2-3D157B8D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9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38F6F-E0AA-89FA-3FFC-8CBAB3B1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632DF-12AA-82AA-90F5-41D3DB70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0E49-1058-C3F3-84F8-FEAC2481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5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4851-BB79-A9A7-F3A7-1424C58A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A659-F4AD-9A0B-9925-7F55D98C4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3B519-2C13-A9DC-382E-5E3867FFD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F10D0-0565-5E1F-0F78-41CE4C6C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25143-5579-B075-4CCA-AEAB8655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AFE7-152C-E7D5-EE6A-78D4B40A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33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DDE5-4BEC-2951-9FA0-10799B5A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06EE2-2E4E-9795-F492-BF00212D8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3110C-8A25-8D31-8A0E-B822816F1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4A4C-F931-5C51-29D6-866C1062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5B4F9-A971-A689-FCAA-ACBDEEBC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0EFF4-40F0-D7D9-E0F1-AA9FE857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72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085F-D959-C916-69AF-9A568A1A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D55BE-D5C2-9B9F-3FE6-DFB3B995C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C35DD-9449-D3F5-B066-CFC05E28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114E6-D1B0-A5C7-90D4-A3D6BD4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AB6D4-B6CC-4986-8442-67B6B6CD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6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EDFC7-8C96-7F76-665C-91831F52D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2A4E1-D94C-B0C0-7C66-CBE55334A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954D0-FC20-1A80-B721-9F47418C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EDEFE-256E-EAF5-D58A-67683507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CE306-9AE1-A38B-0E6C-6221B234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4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F7104-CAE2-5E25-6C28-069EA638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32B69-CFE0-7290-0FFF-A511B7CA4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7F959-F7B1-3889-B81D-F683C6AC9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6F760-A57C-4E39-B6F9-4B2A594D03BD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B0681-DD53-3F71-F488-C27555C6E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C52EE-EC70-B9C2-5569-4B88898BF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6E8D6-D246-470E-87D0-001E6BC3F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1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014C-A8E3-EF88-4404-9CA73F79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4" y="-1194317"/>
            <a:ext cx="10515600" cy="4965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E7BA94-C97E-AF3F-F865-78736A61E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326168"/>
              </p:ext>
            </p:extLst>
          </p:nvPr>
        </p:nvGraphicFramePr>
        <p:xfrm>
          <a:off x="838200" y="1825625"/>
          <a:ext cx="10515600" cy="2744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905016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78940032"/>
                    </a:ext>
                  </a:extLst>
                </a:gridCol>
              </a:tblGrid>
              <a:tr h="686179">
                <a:tc>
                  <a:txBody>
                    <a:bodyPr/>
                    <a:lstStyle/>
                    <a:p>
                      <a:r>
                        <a:rPr lang="en-US" sz="2000"/>
                        <a:t>4SO24EC027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Chitthara K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341414"/>
                  </a:ext>
                </a:extLst>
              </a:tr>
              <a:tr h="686179">
                <a:tc>
                  <a:txBody>
                    <a:bodyPr/>
                    <a:lstStyle/>
                    <a:p>
                      <a:r>
                        <a:rPr lang="en-US"/>
                        <a:t>4SO24EC024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Chaman R Shetty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10237"/>
                  </a:ext>
                </a:extLst>
              </a:tr>
              <a:tr h="6861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4SO24EC026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Chirag M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855316"/>
                  </a:ext>
                </a:extLst>
              </a:tr>
              <a:tr h="6861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4SO24EC044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Hithashree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22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02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5393-6793-0AA5-DBBE-DCFA4CC2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ea typeface="Cambria"/>
                <a:cs typeface="TH SarabunPSK"/>
              </a:rPr>
              <a:t>Report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23B2-8112-91C3-F84E-62D7711DD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091"/>
            <a:ext cx="10515600" cy="496270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/>
              <a:t>Start date:10 March 2026</a:t>
            </a:r>
          </a:p>
          <a:p>
            <a:pPr marL="0" indent="0">
              <a:buNone/>
            </a:pPr>
            <a:r>
              <a:rPr lang="en-US" sz="2400"/>
              <a:t>End date:2 May 2026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Chaman:</a:t>
            </a:r>
          </a:p>
          <a:p>
            <a:pPr marL="0" indent="0">
              <a:buNone/>
            </a:pPr>
            <a:r>
              <a:rPr lang="en-US" sz="2400"/>
              <a:t>Chapter 2:Literature review</a:t>
            </a:r>
          </a:p>
          <a:p>
            <a:pPr marL="0" indent="0">
              <a:buNone/>
            </a:pPr>
            <a:r>
              <a:rPr lang="en-US" sz="2400"/>
              <a:t>Chapter 4:Leaf cell design(Shift registers with testbench)</a:t>
            </a:r>
          </a:p>
          <a:p>
            <a:pPr marL="0" indent="0">
              <a:buNone/>
            </a:pPr>
            <a:r>
              <a:rPr lang="en-US" sz="2400"/>
              <a:t>Work completed by 2nd May 2026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Chirag:</a:t>
            </a:r>
          </a:p>
          <a:p>
            <a:pPr marL="0" indent="0">
              <a:buNone/>
            </a:pPr>
            <a:r>
              <a:rPr lang="en-US" sz="2400"/>
              <a:t>Research papers</a:t>
            </a:r>
          </a:p>
          <a:p>
            <a:pPr marL="0" indent="0">
              <a:buNone/>
            </a:pPr>
            <a:r>
              <a:rPr lang="en-US" sz="2400"/>
              <a:t>Chapter 1:Introduction</a:t>
            </a:r>
          </a:p>
          <a:p>
            <a:pPr marL="0" indent="0">
              <a:buNone/>
            </a:pPr>
            <a:r>
              <a:rPr lang="en-US" sz="2400"/>
              <a:t>Work completed by 2nd May 2026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4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18A4-4232-8AA9-49FD-771F84C6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293" y="-1849991"/>
            <a:ext cx="10515600" cy="324331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CBA1-EBA5-A571-41B9-E80F4E6E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184"/>
            <a:ext cx="10515600" cy="59107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Chitthara:</a:t>
            </a:r>
            <a:endParaRPr lang="en-US"/>
          </a:p>
          <a:p>
            <a:pPr marL="0" indent="0">
              <a:buNone/>
            </a:pPr>
            <a:r>
              <a:rPr lang="en-US" sz="2000"/>
              <a:t>Research papers</a:t>
            </a:r>
            <a:endParaRPr lang="en-US"/>
          </a:p>
          <a:p>
            <a:pPr marL="0" indent="0">
              <a:buNone/>
            </a:pPr>
            <a:r>
              <a:rPr lang="en-US" sz="2000"/>
              <a:t>Chapter 3:Proposed system design(</a:t>
            </a:r>
            <a:r>
              <a:rPr lang="en-US" sz="2000" err="1"/>
              <a:t>architectutral</a:t>
            </a:r>
            <a:r>
              <a:rPr lang="en-US" sz="2000"/>
              <a:t> diagram)</a:t>
            </a:r>
            <a:endParaRPr lang="en-US"/>
          </a:p>
          <a:p>
            <a:pPr marL="0" indent="0">
              <a:buNone/>
            </a:pPr>
            <a:r>
              <a:rPr lang="en-US" sz="2000"/>
              <a:t>Chapter 4:Leaf cell design(multipliers with testbench)</a:t>
            </a:r>
            <a:endParaRPr lang="en-US"/>
          </a:p>
          <a:p>
            <a:pPr marL="0" indent="0">
              <a:buNone/>
            </a:pPr>
            <a:r>
              <a:rPr lang="en-US" sz="2000"/>
              <a:t>Work completed by 2nd May 2026</a:t>
            </a:r>
            <a:endParaRPr lang="en-US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Hitha:</a:t>
            </a:r>
            <a:endParaRPr lang="en-US"/>
          </a:p>
          <a:p>
            <a:pPr marL="0" indent="0">
              <a:buNone/>
            </a:pPr>
            <a:r>
              <a:rPr lang="en-US" sz="2000"/>
              <a:t>Chapter 2:Proposed system design(Block diagram)</a:t>
            </a:r>
            <a:endParaRPr lang="en-US"/>
          </a:p>
          <a:p>
            <a:pPr marL="0" indent="0">
              <a:buNone/>
            </a:pPr>
            <a:r>
              <a:rPr lang="en-US" sz="2000"/>
              <a:t>Chapter 4:Leaf cell design( with testbench)</a:t>
            </a:r>
            <a:endParaRPr lang="en-US"/>
          </a:p>
          <a:p>
            <a:pPr marL="0" indent="0">
              <a:buNone/>
            </a:pPr>
            <a:r>
              <a:rPr lang="en-US" sz="2000"/>
              <a:t>Work completed by 2nd May 2026</a:t>
            </a:r>
            <a:endParaRPr lang="en-US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3550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069A-0D06-08D9-5480-D8FA5898A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8433"/>
            <a:ext cx="9144000" cy="3069855"/>
          </a:xfrm>
        </p:spPr>
        <p:txBody>
          <a:bodyPr/>
          <a:lstStyle/>
          <a:p>
            <a:r>
              <a:rPr lang="en-IN"/>
              <a:t>Adaptive FIR filter using LMS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B36A6-2035-E98F-6960-91D8DFCD3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28572"/>
            <a:ext cx="9144000" cy="229228"/>
          </a:xfrm>
        </p:spPr>
        <p:txBody>
          <a:bodyPr>
            <a:normAutofit fontScale="475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69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D042-C42B-F782-3948-770A15F7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-224811"/>
            <a:ext cx="10515600" cy="1640656"/>
          </a:xfrm>
        </p:spPr>
        <p:txBody>
          <a:bodyPr>
            <a:normAutofit/>
          </a:bodyPr>
          <a:lstStyle/>
          <a:p>
            <a:r>
              <a:rPr lang="en-IN" sz="3600" b="1" u="sng"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C281C-DB3A-9BB7-BC1E-EAA456ED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0" y="1100752"/>
            <a:ext cx="10731911" cy="507621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signal processing is widely used in applications such as communication systems, audio processing, and environmental monitoring. However, real-world signals are often affected by noise, which reduces system accuracy and performance. To address this issue, filtering techniques are used to extract useful information from noisy signals.</a:t>
            </a:r>
          </a:p>
          <a:p>
            <a:pPr marL="0" indent="0">
              <a:buNone/>
            </a:pP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u="sng">
                <a:latin typeface="Calibri"/>
                <a:ea typeface="Calibri"/>
                <a:cs typeface="Calibri"/>
              </a:rPr>
              <a:t>Problem Statement: </a:t>
            </a:r>
            <a:endParaRPr lang="en-US" sz="2500" b="1" u="sng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700">
                <a:latin typeface="Calibri"/>
                <a:ea typeface="Calibri"/>
                <a:cs typeface="Calibri"/>
              </a:rPr>
              <a:t>Real-time biomedical and environmental monitoring systems require efficient digital signal processing. Software-based FIR filtering can introduce latency and increased power consumption in wearable and IoT devices. Design and implement an </a:t>
            </a:r>
            <a:r>
              <a:rPr lang="en-US" sz="2700" err="1">
                <a:latin typeface="Calibri"/>
                <a:ea typeface="Calibri"/>
                <a:cs typeface="Calibri"/>
              </a:rPr>
              <a:t>FPGAbased</a:t>
            </a:r>
            <a:r>
              <a:rPr lang="en-US" sz="2700">
                <a:latin typeface="Calibri"/>
                <a:ea typeface="Calibri"/>
                <a:cs typeface="Calibri"/>
              </a:rPr>
              <a:t> hardware system capable of performing real-time digital filtering for streaming input data.</a:t>
            </a:r>
          </a:p>
          <a:p>
            <a:pPr marL="0" indent="0">
              <a:buNone/>
            </a:pPr>
            <a:endParaRPr lang="en-US" sz="3200" b="1" u="sng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200" b="1" u="sng">
                <a:latin typeface="Calibri"/>
                <a:ea typeface="Calibri"/>
                <a:cs typeface="Calibri"/>
              </a:rPr>
              <a:t>Objectives:</a:t>
            </a:r>
            <a:b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>
                <a:latin typeface="Calibri"/>
                <a:ea typeface="Calibri"/>
                <a:cs typeface="Calibri"/>
              </a:rPr>
              <a:t>The design focuses on developing an adaptive FIR filter architecture based on the LMS algorithm, optimized for efficient FPGA implementation. The filter employs a shift register–based delay line to store input samples, reducing resource utilization and improving hardware efficiency.</a:t>
            </a:r>
            <a:endParaRPr lang="en-IN" sz="27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60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E2DDEB-00EC-052E-176D-571F75EFC55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-1238865" y="5338916"/>
            <a:ext cx="137652" cy="226142"/>
          </a:xfrm>
        </p:spPr>
        <p:txBody>
          <a:bodyPr>
            <a:normAutofit fontScale="40000" lnSpcReduction="20000"/>
          </a:bodyPr>
          <a:lstStyle/>
          <a:p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CC8975-5819-0674-2B9F-58CD551E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557" y="426680"/>
            <a:ext cx="10586884" cy="1345688"/>
          </a:xfrm>
        </p:spPr>
        <p:txBody>
          <a:bodyPr>
            <a:noAutofit/>
          </a:bodyPr>
          <a:lstStyle/>
          <a:p>
            <a:br>
              <a:rPr lang="en-US" sz="3600"/>
            </a:br>
            <a:br>
              <a:rPr lang="en-US" sz="3600"/>
            </a:br>
            <a:br>
              <a:rPr lang="en-US" sz="3600"/>
            </a:b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90C681-777B-8F27-7269-0DE82877F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81" y="615421"/>
            <a:ext cx="9130724" cy="3681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FD9EC7-82BC-02C2-BD11-138B3194E25F}"/>
              </a:ext>
            </a:extLst>
          </p:cNvPr>
          <p:cNvSpPr txBox="1"/>
          <p:nvPr/>
        </p:nvSpPr>
        <p:spPr>
          <a:xfrm>
            <a:off x="356540" y="62704"/>
            <a:ext cx="689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Analysis Table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363CA-C905-FD01-2F34-672BEA900CA2}"/>
              </a:ext>
            </a:extLst>
          </p:cNvPr>
          <p:cNvSpPr txBox="1"/>
          <p:nvPr/>
        </p:nvSpPr>
        <p:spPr>
          <a:xfrm>
            <a:off x="392181" y="4316192"/>
            <a:ext cx="118232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comparison helps identify the trade-off between speed, hardware utilization, and design complexity in different LMS architectures.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30224-4356-B08B-F19E-81C3A568FB37}"/>
              </a:ext>
            </a:extLst>
          </p:cNvPr>
          <p:cNvSpPr txBox="1"/>
          <p:nvPr/>
        </p:nvSpPr>
        <p:spPr>
          <a:xfrm>
            <a:off x="392181" y="5301943"/>
            <a:ext cx="900143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1.Highest Speed: FPGA LMS (BCD Multiplier)</a:t>
            </a:r>
          </a:p>
          <a:p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Least Area: DA-based LMS</a:t>
            </a:r>
          </a:p>
          <a:p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Best Trade-off: DA + LMS Hybrid</a:t>
            </a:r>
          </a:p>
        </p:txBody>
      </p:sp>
    </p:spTree>
    <p:extLst>
      <p:ext uri="{BB962C8B-B14F-4D97-AF65-F5344CB8AC3E}">
        <p14:creationId xmlns:p14="http://schemas.microsoft.com/office/powerpoint/2010/main" val="27707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0FA9-C97C-0016-9B23-57B86609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501" y="-11408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Architectural Diagram</a:t>
            </a:r>
            <a:b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 descr="A diagram of a machine&#10;&#10;AI-generated content may be incorrect.">
            <a:extLst>
              <a:ext uri="{FF2B5EF4-FFF2-40B4-BE49-F238E27FC236}">
                <a16:creationId xmlns:a16="http://schemas.microsoft.com/office/drawing/2014/main" id="{B8F4D2CC-F464-1F07-0A08-D89116370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528" y="544582"/>
            <a:ext cx="10864248" cy="618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5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2611-A43C-EEDE-65F1-2CB8F42C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ECF3-1C20-E655-91C8-5E0E64567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579819"/>
            <a:ext cx="10515600" cy="4351338"/>
          </a:xfrm>
        </p:spPr>
        <p:txBody>
          <a:bodyPr/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MATLAB/Simulink: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Used for testing the ANC filter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Helps to check noise cancellation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Xilinx </a:t>
            </a:r>
            <a:r>
              <a:rPr lang="en-IN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Used for Verilog coding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Used for simulation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Point: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Used for making diagrams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8497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D0F0-34F8-BB70-F1AF-222D970F0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C760-C765-116D-78C4-9A0B9A12C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5" y="10783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1.Pipelined Multiplier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        Used to </a:t>
            </a:r>
            <a:r>
              <a:rPr lang="en-US" sz="2000" err="1">
                <a:latin typeface="Calibri"/>
                <a:ea typeface="Calibri"/>
                <a:cs typeface="Calibri"/>
              </a:rPr>
              <a:t>multiply:Input</a:t>
            </a:r>
            <a:r>
              <a:rPr lang="en-US" sz="2000">
                <a:latin typeface="Calibri"/>
                <a:ea typeface="Calibri"/>
                <a:cs typeface="Calibri"/>
              </a:rPr>
              <a:t> samples × filter coefficients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Eror signal × input signal during LMS coefficient update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96214-80D6-3D82-A3AB-C2452A2F1612}"/>
              </a:ext>
            </a:extLst>
          </p:cNvPr>
          <p:cNvSpPr txBox="1"/>
          <p:nvPr/>
        </p:nvSpPr>
        <p:spPr>
          <a:xfrm>
            <a:off x="553065" y="2692794"/>
            <a:ext cx="859093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FIR filtering:</a:t>
            </a:r>
          </a:p>
          <a:p>
            <a:endParaRPr lang="en-IN" sz="2400" u="sng">
              <a:latin typeface="Calibri"/>
              <a:ea typeface="Calibri"/>
              <a:cs typeface="Calibri"/>
            </a:endParaRPr>
          </a:p>
          <a:p>
            <a:r>
              <a:rPr lang="en-IN" sz="2000">
                <a:ea typeface="+mn-lt"/>
                <a:cs typeface="+mn-lt"/>
              </a:rPr>
              <a:t>y(n)=</a:t>
            </a:r>
            <a:r>
              <a:rPr lang="en-IN" sz="2000" baseline="-25000">
                <a:ea typeface="+mn-lt"/>
                <a:cs typeface="+mn-lt"/>
              </a:rPr>
              <a:t>k=0</a:t>
            </a:r>
            <a:r>
              <a:rPr lang="en-IN" sz="2000">
                <a:ea typeface="+mn-lt"/>
                <a:cs typeface="+mn-lt"/>
              </a:rPr>
              <a:t>∑</a:t>
            </a:r>
            <a:r>
              <a:rPr lang="en-IN" sz="2000" baseline="30000">
                <a:ea typeface="+mn-lt"/>
                <a:cs typeface="+mn-lt"/>
              </a:rPr>
              <a:t>N−1</a:t>
            </a:r>
            <a:r>
              <a:rPr lang="en-IN" sz="2000">
                <a:ea typeface="+mn-lt"/>
                <a:cs typeface="+mn-lt"/>
              </a:rPr>
              <a:t> </a:t>
            </a:r>
            <a:r>
              <a:rPr lang="en-IN" sz="2000" err="1">
                <a:ea typeface="+mn-lt"/>
                <a:cs typeface="+mn-lt"/>
              </a:rPr>
              <a:t>w</a:t>
            </a:r>
            <a:r>
              <a:rPr lang="en-IN" sz="2000" baseline="-25000" err="1">
                <a:ea typeface="+mn-lt"/>
                <a:cs typeface="+mn-lt"/>
              </a:rPr>
              <a:t>k</a:t>
            </a:r>
            <a:r>
              <a:rPr lang="en-IN" sz="2000">
                <a:ea typeface="+mn-lt"/>
                <a:cs typeface="+mn-lt"/>
              </a:rPr>
              <a:t> (n)x(n−k)</a:t>
            </a:r>
            <a:r>
              <a:rPr lang="en-IN" sz="2000">
                <a:latin typeface="Calibri"/>
                <a:ea typeface="Calibri"/>
                <a:cs typeface="Calibri"/>
              </a:rPr>
              <a:t>  each tap requires multiplication.</a:t>
            </a:r>
            <a:endParaRPr lang="en-IN"/>
          </a:p>
          <a:p>
            <a:endParaRPr lang="en-IN" sz="24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pipelined multiplier is used:</a:t>
            </a:r>
          </a:p>
          <a:p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1.Increases processing speed</a:t>
            </a:r>
          </a:p>
          <a:p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2.Supports real-time signal processing</a:t>
            </a:r>
          </a:p>
          <a:p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3.Reduces critical path delay</a:t>
            </a:r>
          </a:p>
          <a:p>
            <a:r>
              <a:rPr lang="en-IN" sz="2000">
                <a:latin typeface="Calibri"/>
                <a:ea typeface="Calibri"/>
                <a:cs typeface="Calibri"/>
              </a:rPr>
              <a:t>4.Efficiently utilizes FPGA DSP slices</a:t>
            </a:r>
          </a:p>
          <a:p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5.Allows higher clock frequency</a:t>
            </a:r>
          </a:p>
        </p:txBody>
      </p:sp>
    </p:spTree>
    <p:extLst>
      <p:ext uri="{BB962C8B-B14F-4D97-AF65-F5344CB8AC3E}">
        <p14:creationId xmlns:p14="http://schemas.microsoft.com/office/powerpoint/2010/main" val="200979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BF8B-48DF-570A-DB14-CD24BB5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Carry Look Ahead Adder (CLA)</a:t>
            </a:r>
            <a:b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22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to:Add</a:t>
            </a: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outputs of all multipliers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 filter output 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error signal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equation</a:t>
            </a:r>
            <a:r>
              <a:rPr lang="en-US" sz="2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e(n)=d(n)-y(n)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CLA is used: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than ripple carry adder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carry propagation delay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overall FPGA speed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high-speed DSP systems</a:t>
            </a: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FIR filters require continuous additions, fast adders are important.</a:t>
            </a:r>
          </a:p>
        </p:txBody>
      </p:sp>
    </p:spTree>
    <p:extLst>
      <p:ext uri="{BB962C8B-B14F-4D97-AF65-F5344CB8AC3E}">
        <p14:creationId xmlns:p14="http://schemas.microsoft.com/office/powerpoint/2010/main" val="57744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04AB-6186-C2BE-5236-23A9C49B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502777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Shift Registers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to:</a:t>
            </a:r>
          </a:p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Store previous input samples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delayed versions of the input signal</a:t>
            </a:r>
          </a:p>
          <a:p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Delay operation:</a:t>
            </a:r>
          </a:p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 x(n) , x(n-1) ,x(n-2)</a:t>
            </a:r>
          </a:p>
          <a:p>
            <a:pPr marL="0" indent="0">
              <a:buNone/>
            </a:pPr>
            <a:endParaRPr lang="en-US" sz="24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Why shift registers are used: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 filters need past input samples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tap uses a delayed sample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sequential data flow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FPGA SRL resources implement delays efficiently</a:t>
            </a:r>
          </a:p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 Without shift registers, the filter cannot access previous samples</a:t>
            </a:r>
          </a:p>
        </p:txBody>
      </p:sp>
    </p:spTree>
    <p:extLst>
      <p:ext uri="{BB962C8B-B14F-4D97-AF65-F5344CB8AC3E}">
        <p14:creationId xmlns:p14="http://schemas.microsoft.com/office/powerpoint/2010/main" val="4234378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EC10-4D6B-1D58-AFB3-E4B86BD25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344129"/>
            <a:ext cx="11592233" cy="60566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Error Calculation Block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compute difference between: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Desired signal 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filter output </a:t>
            </a:r>
          </a:p>
          <a:p>
            <a:pPr marL="0" indent="0">
              <a:buNone/>
            </a:pPr>
            <a:endParaRPr lang="en-IN" sz="31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6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equation: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e(n)=d(n)-y(n)</a:t>
            </a:r>
          </a:p>
          <a:p>
            <a:pPr marL="0" indent="0">
              <a:buNone/>
            </a:pPr>
            <a:endParaRPr lang="en-IN" sz="31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is used: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filter performance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how close output is to desired signal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Drives coefficient adaptation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 for LMS learning process</a:t>
            </a:r>
          </a:p>
          <a:p>
            <a:pPr marL="0" indent="0">
              <a:buNone/>
            </a:pPr>
            <a:r>
              <a:rPr lang="en-I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adaptive filter improves itself using this error value.</a:t>
            </a:r>
          </a:p>
        </p:txBody>
      </p:sp>
    </p:spTree>
    <p:extLst>
      <p:ext uri="{BB962C8B-B14F-4D97-AF65-F5344CB8AC3E}">
        <p14:creationId xmlns:p14="http://schemas.microsoft.com/office/powerpoint/2010/main" val="126447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6B44E-5A1C-0F0C-7D7D-1B961FC4A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3" y="660067"/>
            <a:ext cx="10744200" cy="55378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LMS Update Block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continuously update filter coefficients (weights).</a:t>
            </a:r>
          </a:p>
          <a:p>
            <a:pPr marL="0" indent="0">
              <a:buNone/>
            </a:pPr>
            <a:endParaRPr lang="en-IN" sz="24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LMS update equation:</a:t>
            </a:r>
          </a:p>
          <a:p>
            <a:pPr marL="0" indent="0">
              <a:buNone/>
            </a:pPr>
            <a:r>
              <a:rPr lang="en-IN" sz="2200">
                <a:latin typeface="Aptos"/>
                <a:ea typeface="Calibri"/>
                <a:cs typeface="Calibri"/>
              </a:rPr>
              <a:t>h(n+1)=h(n)+</a:t>
            </a:r>
            <a:r>
              <a:rPr lang="el-GR" sz="2200">
                <a:latin typeface="Aptos"/>
                <a:ea typeface="Calibri"/>
                <a:cs typeface="Calibri"/>
              </a:rPr>
              <a:t> μ</a:t>
            </a:r>
            <a:r>
              <a:rPr lang="en-IN" sz="2200">
                <a:latin typeface="Aptos"/>
                <a:ea typeface="Calibri"/>
                <a:cs typeface="Calibri"/>
              </a:rPr>
              <a:t>x(n)e(n)</a:t>
            </a:r>
          </a:p>
          <a:p>
            <a:pPr marL="0" indent="0">
              <a:buNone/>
            </a:pPr>
            <a:endParaRPr lang="en-IN" sz="2400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LMS block is used: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filter adaptive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Minimizes error over time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adjusts coefficients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changing signals/noise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learning unit of adaptive FIR filter     </a:t>
            </a:r>
          </a:p>
          <a:p>
            <a:pPr marL="0" indent="0">
              <a:buNone/>
            </a:pPr>
            <a:r>
              <a:rPr lang="en-IN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block is what differentiates an adaptive FIR filter from a normal FIR filter</a:t>
            </a:r>
          </a:p>
        </p:txBody>
      </p:sp>
    </p:spTree>
    <p:extLst>
      <p:ext uri="{BB962C8B-B14F-4D97-AF65-F5344CB8AC3E}">
        <p14:creationId xmlns:p14="http://schemas.microsoft.com/office/powerpoint/2010/main" val="248195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15DF-EEA9-197E-DCF3-7E10BA9C5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Github</a:t>
            </a:r>
            <a:r>
              <a:rPr lang="en-US"/>
              <a:t> </a:t>
            </a:r>
            <a:r>
              <a:rPr lang="en-US" err="1"/>
              <a:t>respository</a:t>
            </a:r>
            <a:r>
              <a:rPr lang="en-US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06990-53C9-1EA3-AF18-4EA59BF76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9336"/>
            <a:ext cx="10515600" cy="43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3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Report planning</vt:lpstr>
      <vt:lpstr>PowerPoint Presentation</vt:lpstr>
      <vt:lpstr>Adaptive FIR filter using LMS algorithm</vt:lpstr>
      <vt:lpstr>INTRODUCTION</vt:lpstr>
      <vt:lpstr>    </vt:lpstr>
      <vt:lpstr>Architectural Diagram </vt:lpstr>
      <vt:lpstr>Software used:</vt:lpstr>
      <vt:lpstr>System Architecture</vt:lpstr>
      <vt:lpstr>                2) Carry Look Ahead Adder (CLA) Used to:Add outputs of all multipliers Compute filter output  Calculate error signal  Error equation: e(n)=d(n)-y(n)  Why CLA is used: Faster than ripple carry adder Reduces carry propagation delay Improves overall FPGA speed Suitable for high-speed DSP systems  Because FIR filters require continuous additions, fast adders are important.</vt:lpstr>
      <vt:lpstr>PowerPoint Presentation</vt:lpstr>
      <vt:lpstr>PowerPoint Presentation</vt:lpstr>
      <vt:lpstr>PowerPoint Presentation</vt:lpstr>
      <vt:lpstr>Github respository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Nayak</dc:creator>
  <cp:revision>9</cp:revision>
  <dcterms:created xsi:type="dcterms:W3CDTF">2026-05-11T16:23:16Z</dcterms:created>
  <dcterms:modified xsi:type="dcterms:W3CDTF">2026-05-12T07:18:00Z</dcterms:modified>
</cp:coreProperties>
</file>